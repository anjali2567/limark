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AD85EA1-DF68-426A-9917-214A2B3E1B38}">
  <a:tblStyle styleId="{1AD85EA1-DF68-426A-9917-214A2B3E1B3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ea624b3c7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g3cea624b3c7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cea624b3c7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11480" y="1005840"/>
            <a:ext cx="8412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Database Normalization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411480" y="2057400"/>
            <a:ext cx="5029200" cy="54864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11480" y="28346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Course: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Database Design &amp; Development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411480" y="3182112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t/>
            </a:r>
            <a:endParaRPr b="1" sz="1300">
              <a:solidFill>
                <a:srgbClr val="CBD5E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00"/>
              <a:buFont typeface="Calibri"/>
              <a:buNone/>
            </a:pPr>
            <a:r>
              <a:rPr b="1" lang="en-US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Prepared by:  </a:t>
            </a:r>
            <a:r>
              <a:rPr lang="en-US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Lahiru Viraj Karunarathna</a:t>
            </a:r>
            <a:r>
              <a:rPr b="0" i="0" lang="en-US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6949440" y="548640"/>
            <a:ext cx="1920240" cy="1920240"/>
          </a:xfrm>
          <a:prstGeom prst="ellipse">
            <a:avLst/>
          </a:prstGeom>
          <a:solidFill>
            <a:srgbClr val="0D9488">
              <a:alpha val="20000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7498080" y="1097280"/>
            <a:ext cx="1371600" cy="1371600"/>
          </a:xfrm>
          <a:prstGeom prst="ellipse">
            <a:avLst/>
          </a:prstGeom>
          <a:solidFill>
            <a:srgbClr val="0D9488">
              <a:alpha val="34901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Learning Objectives</a:t>
            </a:r>
            <a:endParaRPr b="0" i="0" sz="2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274320" y="4910328"/>
            <a:ext cx="73152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Database Normalization  |  Database Design &amp; Development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8229600" y="4910328"/>
            <a:ext cx="73152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2 / 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20040" y="822960"/>
            <a:ext cx="850392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429768" y="950976"/>
            <a:ext cx="429768" cy="42976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29768" y="950976"/>
            <a:ext cx="429768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978408" y="88696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Identify design flaws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978408" y="1170432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Recognise anomalies and redundancy in unnormalised tables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320040" y="1645920"/>
            <a:ext cx="850392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29768" y="1773936"/>
            <a:ext cx="429768" cy="42976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29768" y="1773936"/>
            <a:ext cx="429768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978408" y="170992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Define normalisation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978408" y="1993392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Explain what normalisation is and why it matters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320040" y="2468880"/>
            <a:ext cx="850392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429768" y="2596896"/>
            <a:ext cx="429768" cy="42976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429768" y="2596896"/>
            <a:ext cx="429768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978408" y="253288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Apply 1NF, 2NF, 3NF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978408" y="2816352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Transform a table step-by-step through the normal forms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320040" y="3291840"/>
            <a:ext cx="850392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429768" y="3419856"/>
            <a:ext cx="429768" cy="42976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29768" y="3419856"/>
            <a:ext cx="429768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978408" y="335584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Evaluate the benefits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978408" y="3639312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Explore </a:t>
            </a: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how normalisation improves data integrity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320040" y="4114800"/>
            <a:ext cx="8503920" cy="6858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429768" y="4242816"/>
            <a:ext cx="429768" cy="429768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429768" y="4242816"/>
            <a:ext cx="429768" cy="4297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978408" y="4178808"/>
            <a:ext cx="32004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Connect to practice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978408" y="4462272"/>
            <a:ext cx="76809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Link the theory to real</a:t>
            </a:r>
            <a:r>
              <a:rPr lang="en-US" sz="115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15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world database design scenarios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4" name="Google Shape;64;p5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Why Does Database Design Matter?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66" name="Google Shape;66;p5"/>
          <p:cNvSpPr/>
          <p:nvPr/>
        </p:nvSpPr>
        <p:spPr>
          <a:xfrm>
            <a:off x="274320" y="4910328"/>
            <a:ext cx="73152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Database Normalization  |  Database Design &amp; Development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8229600" y="4910328"/>
            <a:ext cx="73152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3 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365760" y="777240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Consider a poorly-designed ORDER table: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9" name="Google Shape;69;p5"/>
          <p:cNvGraphicFramePr/>
          <p:nvPr/>
        </p:nvGraphicFramePr>
        <p:xfrm>
          <a:off x="320040" y="11704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{1AD85EA1-DF68-426A-9917-214A2B3E1B38}</a:tableStyleId>
              </a:tblPr>
              <a:tblGrid>
                <a:gridCol w="1005850"/>
                <a:gridCol w="1828800"/>
                <a:gridCol w="2194550"/>
                <a:gridCol w="2103125"/>
                <a:gridCol w="1371600"/>
              </a:tblGrid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OrderID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CustomerName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CustomerEmail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ProductName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FFFFFF"/>
                          </a:solidFill>
                        </a:rPr>
                        <a:t>ProductPrice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1001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Alice Green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alice@email.com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Laptop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/>
                        <a:t>$</a:t>
                      </a: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899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1001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Alice Green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alice@email.com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Mouse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9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/>
                        <a:t>$</a:t>
                      </a: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25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F9C3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1002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Bob Smith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bob@email.com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Keyboard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/>
                        <a:t>$</a:t>
                      </a:r>
                      <a:r>
                        <a:rPr lang="en-US" sz="1300" u="none" cap="none" strike="noStrike">
                          <a:solidFill>
                            <a:srgbClr val="000000"/>
                          </a:solidFill>
                        </a:rPr>
                        <a:t>45</a:t>
                      </a:r>
                      <a:endParaRPr sz="13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0" name="Google Shape;70;p5"/>
          <p:cNvSpPr/>
          <p:nvPr/>
        </p:nvSpPr>
        <p:spPr>
          <a:xfrm>
            <a:off x="320040" y="2414016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150"/>
              <a:buFont typeface="Calibri"/>
              <a:buNone/>
            </a:pPr>
            <a:r>
              <a:rPr b="1" i="1" lang="en-US" sz="13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Row 2 &amp; 3: Alice's details are stored TWICE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320040" y="2788920"/>
            <a:ext cx="274320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72" name="Google Shape;72;p5"/>
          <p:cNvSpPr/>
          <p:nvPr/>
        </p:nvSpPr>
        <p:spPr>
          <a:xfrm>
            <a:off x="320040" y="2788920"/>
            <a:ext cx="2743200" cy="54864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73" name="Google Shape;73;p5"/>
          <p:cNvSpPr/>
          <p:nvPr/>
        </p:nvSpPr>
        <p:spPr>
          <a:xfrm>
            <a:off x="429768" y="2898648"/>
            <a:ext cx="25237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Anomaly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429768" y="3264408"/>
            <a:ext cx="252374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Changing Alice's email requires updating every row </a:t>
            </a:r>
            <a:r>
              <a:rPr lang="en-US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-&gt;</a:t>
            </a:r>
            <a:r>
              <a:rPr b="0" i="0" lang="en-US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easy to miss one and create inconsistency.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3200400" y="2788920"/>
            <a:ext cx="274320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76" name="Google Shape;76;p5"/>
          <p:cNvSpPr/>
          <p:nvPr/>
        </p:nvSpPr>
        <p:spPr>
          <a:xfrm>
            <a:off x="3200400" y="2788920"/>
            <a:ext cx="2743200" cy="54864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77" name="Google Shape;77;p5"/>
          <p:cNvSpPr/>
          <p:nvPr/>
        </p:nvSpPr>
        <p:spPr>
          <a:xfrm>
            <a:off x="3310128" y="2898648"/>
            <a:ext cx="25237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Insertion Anomaly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3310128" y="3264408"/>
            <a:ext cx="252374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Can't add a new product without attaching a customer order </a:t>
            </a:r>
            <a:r>
              <a:rPr lang="en-US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-&gt; </a:t>
            </a:r>
            <a:r>
              <a:rPr b="0" i="0" lang="en-US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data is unnecessarily coupled.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080760" y="2788920"/>
            <a:ext cx="2743200" cy="1645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80" name="Google Shape;80;p5"/>
          <p:cNvSpPr/>
          <p:nvPr/>
        </p:nvSpPr>
        <p:spPr>
          <a:xfrm>
            <a:off x="6080760" y="2788920"/>
            <a:ext cx="2743200" cy="54864"/>
          </a:xfrm>
          <a:prstGeom prst="rect">
            <a:avLst/>
          </a:prstGeom>
          <a:solidFill>
            <a:srgbClr val="DC2626"/>
          </a:solidFill>
          <a:ln cap="flat" cmpd="sng" w="12700">
            <a:solidFill>
              <a:srgbClr val="DC262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81" name="Google Shape;81;p5"/>
          <p:cNvSpPr/>
          <p:nvPr/>
        </p:nvSpPr>
        <p:spPr>
          <a:xfrm>
            <a:off x="6190488" y="2898648"/>
            <a:ext cx="2523744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alibri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Deletion Anomaly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190488" y="3264408"/>
            <a:ext cx="252374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Deleting the only order for a product permanently loses all product information.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89" name="Google Shape;89;p6"/>
          <p:cNvSpPr/>
          <p:nvPr/>
        </p:nvSpPr>
        <p:spPr>
          <a:xfrm>
            <a:off x="274320" y="4910328"/>
            <a:ext cx="73152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Database Normalization  |  Database Design &amp; Development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8229600" y="4910328"/>
            <a:ext cx="73152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4 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11480" y="274320"/>
            <a:ext cx="8321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is Database Normalisation?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11480" y="987552"/>
            <a:ext cx="8321040" cy="118872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3" name="Google Shape;93;p6"/>
          <p:cNvSpPr/>
          <p:nvPr/>
        </p:nvSpPr>
        <p:spPr>
          <a:xfrm>
            <a:off x="566928" y="987552"/>
            <a:ext cx="8010144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4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Normalisation is a systematic process of organising the attributes and relations of a relational database to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en-US" sz="1600" u="none" cap="none" strike="noStrike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minimise data redundancy</a:t>
            </a: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1" i="0" lang="en-US" sz="1600" u="none" cap="none" strike="noStrike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eliminate undesirable insertion, update, and deletion anomalies</a:t>
            </a:r>
            <a:r>
              <a:rPr b="0" i="0" lang="en-US" sz="1600" u="none" cap="none" strike="noStrike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600" u="none" cap="none" strike="noStrike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320040" y="2331720"/>
            <a:ext cx="2011680" cy="24231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95" name="Google Shape;95;p6"/>
          <p:cNvSpPr/>
          <p:nvPr/>
        </p:nvSpPr>
        <p:spPr>
          <a:xfrm>
            <a:off x="320040" y="2331720"/>
            <a:ext cx="201168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96" name="Google Shape;96;p6"/>
          <p:cNvSpPr/>
          <p:nvPr/>
        </p:nvSpPr>
        <p:spPr>
          <a:xfrm>
            <a:off x="411480" y="2459736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alibri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 Forms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411480" y="2926080"/>
            <a:ext cx="1828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F5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Rules that a table must satisfy  1NF, 2NF, 3NF, BCNF, etc.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2450592" y="2331720"/>
            <a:ext cx="2011680" cy="24231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99" name="Google Shape;99;p6"/>
          <p:cNvSpPr/>
          <p:nvPr/>
        </p:nvSpPr>
        <p:spPr>
          <a:xfrm>
            <a:off x="2450592" y="2331720"/>
            <a:ext cx="201168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0" name="Google Shape;100;p6"/>
          <p:cNvSpPr/>
          <p:nvPr/>
        </p:nvSpPr>
        <p:spPr>
          <a:xfrm>
            <a:off x="2542032" y="2459736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alibri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 Dependency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2542032" y="2926080"/>
            <a:ext cx="1828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F5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Attribute B depends on attribute A → written A → B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581144" y="2331720"/>
            <a:ext cx="2011680" cy="24231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3" name="Google Shape;103;p6"/>
          <p:cNvSpPr/>
          <p:nvPr/>
        </p:nvSpPr>
        <p:spPr>
          <a:xfrm>
            <a:off x="4581144" y="2331720"/>
            <a:ext cx="201168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4" name="Google Shape;104;p6"/>
          <p:cNvSpPr/>
          <p:nvPr/>
        </p:nvSpPr>
        <p:spPr>
          <a:xfrm>
            <a:off x="4672584" y="2459736"/>
            <a:ext cx="1828800" cy="4114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alibri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Primary Key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4672584" y="2926080"/>
            <a:ext cx="1828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F5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unique identifier that other attributes depend on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711696" y="2331720"/>
            <a:ext cx="2011680" cy="24231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7" name="Google Shape;107;p6"/>
          <p:cNvSpPr/>
          <p:nvPr/>
        </p:nvSpPr>
        <p:spPr>
          <a:xfrm>
            <a:off x="6711696" y="2331720"/>
            <a:ext cx="2011680" cy="6400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08" name="Google Shape;108;p6"/>
          <p:cNvSpPr/>
          <p:nvPr/>
        </p:nvSpPr>
        <p:spPr>
          <a:xfrm>
            <a:off x="6803136" y="2459736"/>
            <a:ext cx="1828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alibri"/>
              <a:buNone/>
            </a:pPr>
            <a:r>
              <a:rPr b="1" i="0" lang="en-US" sz="1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Decomposition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6803136" y="2926080"/>
            <a:ext cx="18288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F5"/>
              </a:buClr>
              <a:buSzPts val="1100"/>
              <a:buFont typeface="Calibri"/>
              <a:buNone/>
            </a:pPr>
            <a:r>
              <a:rPr b="0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Breaking one table into two or more well-structured tables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16" name="Google Shape;116;p7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First Normal Form (1NF)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18" name="Google Shape;118;p7"/>
          <p:cNvSpPr/>
          <p:nvPr/>
        </p:nvSpPr>
        <p:spPr>
          <a:xfrm>
            <a:off x="274320" y="4910328"/>
            <a:ext cx="73152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Database Normalization  |  Database Design &amp; Development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8229600" y="4910328"/>
            <a:ext cx="73152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5 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320040" y="777240"/>
            <a:ext cx="8503920" cy="502920"/>
          </a:xfrm>
          <a:prstGeom prst="rect">
            <a:avLst/>
          </a:prstGeom>
          <a:solidFill>
            <a:srgbClr val="0D9488">
              <a:alpha val="14901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21" name="Google Shape;121;p7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1" i="0" lang="en-US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Rule: Each column must contain atomic (indivisible) values, and each row must be unique.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320040" y="138988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300"/>
              <a:buFont typeface="Calibri"/>
              <a:buNone/>
            </a:pPr>
            <a:r>
              <a:rPr b="1" i="0" lang="en-US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BEFORE 1NF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3" name="Google Shape;123;p7"/>
          <p:cNvGraphicFramePr/>
          <p:nvPr/>
        </p:nvGraphicFramePr>
        <p:xfrm>
          <a:off x="32004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{1AD85EA1-DF68-426A-9917-214A2B3E1B38}</a:tableStyleId>
              </a:tblPr>
              <a:tblGrid>
                <a:gridCol w="998125"/>
                <a:gridCol w="1105000"/>
                <a:gridCol w="182880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</a:rPr>
                        <a:t>StudentID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</a:rPr>
                        <a:t>Name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</a:rPr>
                        <a:t>Courses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2626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S01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Alice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Maths, Physics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S02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Bob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Chemistry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S03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Carol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Maths, Biology, Physics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4" name="Google Shape;124;p7"/>
          <p:cNvSpPr/>
          <p:nvPr/>
        </p:nvSpPr>
        <p:spPr>
          <a:xfrm>
            <a:off x="320040" y="3246120"/>
            <a:ext cx="3931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0" i="1" lang="en-US" sz="13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'Courses' stores multiple values in one cell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892040" y="138988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AFTER 1NF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26" name="Google Shape;126;p7"/>
          <p:cNvGraphicFramePr/>
          <p:nvPr/>
        </p:nvGraphicFramePr>
        <p:xfrm>
          <a:off x="489204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{1AD85EA1-DF68-426A-9917-214A2B3E1B38}</a:tableStyleId>
              </a:tblPr>
              <a:tblGrid>
                <a:gridCol w="1005850"/>
                <a:gridCol w="1188725"/>
                <a:gridCol w="1737350"/>
              </a:tblGrid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</a:rPr>
                        <a:t>StudentID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</a:rPr>
                        <a:t>Name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</a:rPr>
                        <a:t>Course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S01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Alice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Maths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S01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Alice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Physics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S02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Bob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Chemistry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S03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Carol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</a:rPr>
                        <a:t>Maths</a:t>
                      </a:r>
                      <a:endParaRPr sz="12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7" name="Google Shape;127;p7"/>
          <p:cNvSpPr/>
          <p:nvPr/>
        </p:nvSpPr>
        <p:spPr>
          <a:xfrm>
            <a:off x="4892040" y="324612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050"/>
              <a:buFont typeface="Calibri"/>
              <a:buNone/>
            </a:pPr>
            <a:r>
              <a:rPr b="0" i="1" lang="en-US" sz="135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Each cell holds one value — rows are atomic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320040" y="3401568"/>
            <a:ext cx="850392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Key requirements for 1NF: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Only atomic values</a:t>
            </a:r>
            <a:r>
              <a:rPr lang="en-US" sz="13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 lists or sets in a cell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No repeating groups of columns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5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Each row is uniquely identifiable (primary key)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4401000" y="2284850"/>
            <a:ext cx="341400" cy="23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D6E5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36" name="Google Shape;136;p8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Second Normal Form (2NF)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38" name="Google Shape;138;p8"/>
          <p:cNvSpPr/>
          <p:nvPr/>
        </p:nvSpPr>
        <p:spPr>
          <a:xfrm>
            <a:off x="274320" y="4910328"/>
            <a:ext cx="73152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Database Normalization  |  Database Design &amp; Development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8229600" y="4910328"/>
            <a:ext cx="73152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6 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320040" y="777240"/>
            <a:ext cx="8503920" cy="502920"/>
          </a:xfrm>
          <a:prstGeom prst="rect">
            <a:avLst/>
          </a:prstGeom>
          <a:solidFill>
            <a:srgbClr val="0D9488">
              <a:alpha val="14901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41" name="Google Shape;141;p8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1" i="0" lang="en-US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Rule: Must be in 1NF AND every non-key attribute must be fully functionally dependent on the entire primary key.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320040" y="13898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BEFORE 2NF  (Composite PK: StudentID + CourseID)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3" name="Google Shape;143;p8"/>
          <p:cNvGraphicFramePr/>
          <p:nvPr/>
        </p:nvGraphicFramePr>
        <p:xfrm>
          <a:off x="32004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{1AD85EA1-DF68-426A-9917-214A2B3E1B38}</a:tableStyleId>
              </a:tblPr>
              <a:tblGrid>
                <a:gridCol w="1280150"/>
                <a:gridCol w="1188725"/>
                <a:gridCol w="1645925"/>
                <a:gridCol w="1645925"/>
                <a:gridCol w="914400"/>
              </a:tblGrid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StudentID *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CourseID *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StudentName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CourseName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Grade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2626"/>
                    </a:solidFill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S01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C01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Alice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Maths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A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S01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C02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Alice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Physics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B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7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S02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C01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Bob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Maths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C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4" name="Google Shape;144;p8"/>
          <p:cNvSpPr/>
          <p:nvPr/>
        </p:nvSpPr>
        <p:spPr>
          <a:xfrm>
            <a:off x="320040" y="2926080"/>
            <a:ext cx="8503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0" i="1" lang="en-US" sz="13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StudentName depends only on StudentID (partial dep.)  ·  CourseName depends only on CourseID (partial dep.)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320040" y="324612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AFTER 2NF — decompose into two tables: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6" name="Google Shape;146;p8"/>
          <p:cNvGraphicFramePr/>
          <p:nvPr/>
        </p:nvGraphicFramePr>
        <p:xfrm>
          <a:off x="320040" y="3538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{1AD85EA1-DF68-426A-9917-214A2B3E1B38}</a:tableStyleId>
              </a:tblPr>
              <a:tblGrid>
                <a:gridCol w="1280150"/>
                <a:gridCol w="14630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StudentID *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StudentName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S01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Alice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S02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Bob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7" name="Google Shape;147;p8"/>
          <p:cNvGraphicFramePr/>
          <p:nvPr/>
        </p:nvGraphicFramePr>
        <p:xfrm>
          <a:off x="3200400" y="3538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{1AD85EA1-DF68-426A-9917-214A2B3E1B38}</a:tableStyleId>
              </a:tblPr>
              <a:tblGrid>
                <a:gridCol w="1188725"/>
                <a:gridCol w="1188725"/>
                <a:gridCol w="822950"/>
              </a:tblGrid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StudentID *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CourseID *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Grade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S01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C01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A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S01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C02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B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S02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C01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C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48" name="Google Shape;148;p8"/>
          <p:cNvGraphicFramePr/>
          <p:nvPr/>
        </p:nvGraphicFramePr>
        <p:xfrm>
          <a:off x="6537960" y="35387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{1AD85EA1-DF68-426A-9917-214A2B3E1B38}</a:tableStyleId>
              </a:tblPr>
              <a:tblGrid>
                <a:gridCol w="1097275"/>
                <a:gridCol w="118872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CourseID *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CourseName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C01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Maths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C02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Physics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55" name="Google Shape;155;p9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Third Normal Form (3NF)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57" name="Google Shape;157;p9"/>
          <p:cNvSpPr/>
          <p:nvPr/>
        </p:nvSpPr>
        <p:spPr>
          <a:xfrm>
            <a:off x="274320" y="4910328"/>
            <a:ext cx="73152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Database Normalization  |  Database Design &amp; Development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8229600" y="4910328"/>
            <a:ext cx="73152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7 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320040" y="777240"/>
            <a:ext cx="8503920" cy="502920"/>
          </a:xfrm>
          <a:prstGeom prst="rect">
            <a:avLst/>
          </a:prstGeom>
          <a:solidFill>
            <a:srgbClr val="0D9488">
              <a:alpha val="14901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60" name="Google Shape;160;p9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50"/>
              <a:buFont typeface="Calibri"/>
              <a:buNone/>
            </a:pPr>
            <a:r>
              <a:rPr b="1" i="0" lang="en-US" sz="135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Rule: Must be in 2NF AND no non-key attribute should be transitively dependent on the primary key.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320040" y="1389888"/>
            <a:ext cx="8503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Transitive Dependency:  A → B → C  means C is transitively dependent on A (the primary key)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320040" y="1783080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BEFORE 3NF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3" name="Google Shape;163;p9"/>
          <p:cNvGraphicFramePr/>
          <p:nvPr/>
        </p:nvGraphicFramePr>
        <p:xfrm>
          <a:off x="320040" y="2075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{1AD85EA1-DF68-426A-9917-214A2B3E1B38}</a:tableStyleId>
              </a:tblPr>
              <a:tblGrid>
                <a:gridCol w="1280150"/>
                <a:gridCol w="1188725"/>
                <a:gridCol w="914400"/>
                <a:gridCol w="1005850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EmployeeID *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EmpName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DeptID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DeptName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2626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E01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Alice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D10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Finance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E02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Bob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D10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Finance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E03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Carol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D20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HR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4" name="Google Shape;164;p9"/>
          <p:cNvSpPr/>
          <p:nvPr/>
        </p:nvSpPr>
        <p:spPr>
          <a:xfrm>
            <a:off x="320040" y="3218688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050"/>
              <a:buFont typeface="Calibri"/>
              <a:buNone/>
            </a:pPr>
            <a:r>
              <a:rPr b="0" i="1" lang="en-US" sz="135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EmployeeID → DeptID → DeptName  (transitive!)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5394960" y="17830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AFTER 3NF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6" name="Google Shape;166;p9"/>
          <p:cNvGraphicFramePr/>
          <p:nvPr/>
        </p:nvGraphicFramePr>
        <p:xfrm>
          <a:off x="5394960" y="2075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{1AD85EA1-DF68-426A-9917-214A2B3E1B38}</a:tableStyleId>
              </a:tblPr>
              <a:tblGrid>
                <a:gridCol w="1280150"/>
                <a:gridCol w="1097275"/>
                <a:gridCol w="1097275"/>
              </a:tblGrid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EmployeeID *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EmpName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DeptID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E01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Alice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D10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E02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Bob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D10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43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E03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Carol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D20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67" name="Google Shape;167;p9"/>
          <p:cNvGraphicFramePr/>
          <p:nvPr/>
        </p:nvGraphicFramePr>
        <p:xfrm>
          <a:off x="5394960" y="32461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{1AD85EA1-DF68-426A-9917-214A2B3E1B38}</a:tableStyleId>
              </a:tblPr>
              <a:tblGrid>
                <a:gridCol w="1280150"/>
                <a:gridCol w="2194550"/>
              </a:tblGrid>
              <a:tr h="24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DeptID *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DeptName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D10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Finance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D20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HR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8" name="Google Shape;168;p9"/>
          <p:cNvSpPr/>
          <p:nvPr/>
        </p:nvSpPr>
        <p:spPr>
          <a:xfrm>
            <a:off x="4881363" y="2801250"/>
            <a:ext cx="341400" cy="233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D6E5A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75" name="Google Shape;175;p10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Worked Example: Unnormalised → 3NF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77" name="Google Shape;177;p10"/>
          <p:cNvSpPr/>
          <p:nvPr/>
        </p:nvSpPr>
        <p:spPr>
          <a:xfrm>
            <a:off x="274320" y="4910328"/>
            <a:ext cx="73152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Database Normalization  |  Database Design &amp; Development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8229600" y="4910328"/>
            <a:ext cx="73152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8 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320040" y="777240"/>
            <a:ext cx="8503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Unnormalised Table (UNF)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0" name="Google Shape;180;p10"/>
          <p:cNvGraphicFramePr/>
          <p:nvPr/>
        </p:nvGraphicFramePr>
        <p:xfrm>
          <a:off x="320040" y="106070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{1AD85EA1-DF68-426A-9917-214A2B3E1B38}</a:tableStyleId>
              </a:tblPr>
              <a:tblGrid>
                <a:gridCol w="914400"/>
                <a:gridCol w="1280150"/>
                <a:gridCol w="1188725"/>
                <a:gridCol w="2103125"/>
                <a:gridCol w="1645925"/>
              </a:tblGrid>
              <a:tr h="25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OrderID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CustName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CustCity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Products (multi)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Prices (multi)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C2626"/>
                    </a:solidFill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O1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Alice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London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Laptop, Mouse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150"/>
                        <a:t>$</a:t>
                      </a: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899, </a:t>
                      </a:r>
                      <a:r>
                        <a:rPr lang="en-US" sz="1150"/>
                        <a:t>$</a:t>
                      </a: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25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9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O2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Bob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York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Keyboard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150"/>
                        <a:t>$</a:t>
                      </a: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45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1" name="Google Shape;181;p10"/>
          <p:cNvSpPr/>
          <p:nvPr/>
        </p:nvSpPr>
        <p:spPr>
          <a:xfrm>
            <a:off x="320040" y="1965960"/>
            <a:ext cx="2377440" cy="77724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82" name="Google Shape;182;p10"/>
          <p:cNvSpPr/>
          <p:nvPr/>
        </p:nvSpPr>
        <p:spPr>
          <a:xfrm>
            <a:off x="320040" y="1965960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1: Apply 1NF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2788920" y="21031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45309"/>
              </a:buClr>
              <a:buSzPts val="2000"/>
              <a:buFont typeface="Calibri"/>
              <a:buNone/>
            </a:pPr>
            <a:r>
              <a:rPr b="1" i="0" lang="en-US" sz="2100" u="none" cap="none" strike="noStrike">
                <a:solidFill>
                  <a:srgbClr val="B45309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3337560" y="1965960"/>
            <a:ext cx="544068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85" name="Google Shape;185;p10"/>
          <p:cNvSpPr/>
          <p:nvPr/>
        </p:nvSpPr>
        <p:spPr>
          <a:xfrm>
            <a:off x="3337560" y="1965960"/>
            <a:ext cx="64008" cy="777240"/>
          </a:xfrm>
          <a:prstGeom prst="rect">
            <a:avLst/>
          </a:prstGeom>
          <a:solidFill>
            <a:srgbClr val="B45309"/>
          </a:solidFill>
          <a:ln cap="flat" cmpd="sng" w="12700">
            <a:solidFill>
              <a:srgbClr val="B4530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86" name="Google Shape;186;p10"/>
          <p:cNvSpPr/>
          <p:nvPr/>
        </p:nvSpPr>
        <p:spPr>
          <a:xfrm>
            <a:off x="3493008" y="2020824"/>
            <a:ext cx="521208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Atomic values — one product per row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Composite PK: OrderID + ProductID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320040" y="2898648"/>
            <a:ext cx="2377440" cy="777240"/>
          </a:xfrm>
          <a:prstGeom prst="rect">
            <a:avLst/>
          </a:prstGeom>
          <a:solidFill>
            <a:srgbClr val="0D6E5A"/>
          </a:solidFill>
          <a:ln cap="flat" cmpd="sng" w="12700">
            <a:solidFill>
              <a:srgbClr val="0D6E5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88" name="Google Shape;188;p10"/>
          <p:cNvSpPr/>
          <p:nvPr/>
        </p:nvSpPr>
        <p:spPr>
          <a:xfrm>
            <a:off x="320040" y="2898648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2: Apply 2NF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2788920" y="303580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6E5A"/>
              </a:buClr>
              <a:buSzPts val="2000"/>
              <a:buFont typeface="Calibri"/>
              <a:buNone/>
            </a:pPr>
            <a:r>
              <a:rPr b="1" i="0" lang="en-US" sz="2100" u="none" cap="none" strike="noStrike">
                <a:solidFill>
                  <a:srgbClr val="0D6E5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3337560" y="2898648"/>
            <a:ext cx="544068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91" name="Google Shape;191;p10"/>
          <p:cNvSpPr/>
          <p:nvPr/>
        </p:nvSpPr>
        <p:spPr>
          <a:xfrm>
            <a:off x="3337560" y="2898648"/>
            <a:ext cx="64008" cy="777240"/>
          </a:xfrm>
          <a:prstGeom prst="rect">
            <a:avLst/>
          </a:prstGeom>
          <a:solidFill>
            <a:srgbClr val="0D6E5A"/>
          </a:solidFill>
          <a:ln cap="flat" cmpd="sng" w="12700">
            <a:solidFill>
              <a:srgbClr val="0D6E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92" name="Google Shape;192;p10"/>
          <p:cNvSpPr/>
          <p:nvPr/>
        </p:nvSpPr>
        <p:spPr>
          <a:xfrm>
            <a:off x="3493008" y="2953512"/>
            <a:ext cx="521208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Remove partial deps — split Customer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and Product info into separate tables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/>
          <p:nvPr/>
        </p:nvSpPr>
        <p:spPr>
          <a:xfrm>
            <a:off x="320040" y="3831336"/>
            <a:ext cx="2377440" cy="7772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94" name="Google Shape;194;p10"/>
          <p:cNvSpPr/>
          <p:nvPr/>
        </p:nvSpPr>
        <p:spPr>
          <a:xfrm>
            <a:off x="320040" y="3831336"/>
            <a:ext cx="23774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Step 3: Apply 3NF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2788920" y="396849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000"/>
              <a:buFont typeface="Calibri"/>
              <a:buNone/>
            </a:pPr>
            <a:r>
              <a:rPr b="1" i="0" lang="en-US" sz="2100" u="none" cap="none" strike="noStrike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3337560" y="3831336"/>
            <a:ext cx="5440680" cy="777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97" name="Google Shape;197;p10"/>
          <p:cNvSpPr/>
          <p:nvPr/>
        </p:nvSpPr>
        <p:spPr>
          <a:xfrm>
            <a:off x="3337560" y="3831336"/>
            <a:ext cx="64008" cy="77724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198" name="Google Shape;198;p10"/>
          <p:cNvSpPr/>
          <p:nvPr/>
        </p:nvSpPr>
        <p:spPr>
          <a:xfrm>
            <a:off x="3493008" y="3886200"/>
            <a:ext cx="5212080" cy="6675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Remove transitive deps — City depends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on CustomerID, not OrderID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1"/>
          <p:cNvSpPr/>
          <p:nvPr/>
        </p:nvSpPr>
        <p:spPr>
          <a:xfrm>
            <a:off x="0" y="0"/>
            <a:ext cx="9144000" cy="658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365760" y="0"/>
            <a:ext cx="8412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Worked Example: Final Normalised Tables (3NF)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0" y="4910328"/>
            <a:ext cx="9144000" cy="2331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274320" y="4910328"/>
            <a:ext cx="73152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Database Normalization  |  Database Design &amp; Development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8229600" y="4910328"/>
            <a:ext cx="7314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9 / 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320040" y="777240"/>
            <a:ext cx="850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Three clean tables — all anomalies and redundancy eliminated: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320040" y="1115568"/>
            <a:ext cx="27432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Customers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1" name="Google Shape;211;p11"/>
          <p:cNvGraphicFramePr/>
          <p:nvPr/>
        </p:nvGraphicFramePr>
        <p:xfrm>
          <a:off x="320040" y="13990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{1AD85EA1-DF68-426A-9917-214A2B3E1B38}</a:tableStyleId>
              </a:tblPr>
              <a:tblGrid>
                <a:gridCol w="1325875"/>
                <a:gridCol w="1188725"/>
                <a:gridCol w="1143000"/>
              </a:tblGrid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CustomerID *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CustName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CustCity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C01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Alice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London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95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C02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Bob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York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2" name="Google Shape;212;p11"/>
          <p:cNvSpPr/>
          <p:nvPr/>
        </p:nvSpPr>
        <p:spPr>
          <a:xfrm>
            <a:off x="320040" y="2313432"/>
            <a:ext cx="36576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CustomerID → CustName, CustCity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4572000" y="1115568"/>
            <a:ext cx="42063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Products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4" name="Google Shape;214;p11"/>
          <p:cNvGraphicFramePr/>
          <p:nvPr/>
        </p:nvGraphicFramePr>
        <p:xfrm>
          <a:off x="4572000" y="13990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{1AD85EA1-DF68-426A-9917-214A2B3E1B38}</a:tableStyleId>
              </a:tblPr>
              <a:tblGrid>
                <a:gridCol w="1188725"/>
                <a:gridCol w="1737350"/>
                <a:gridCol w="1005850"/>
              </a:tblGrid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ProductID *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ProductName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Price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P01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Laptop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£899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P02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Mouse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£25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P03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Keyboard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£45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5" name="Google Shape;215;p11"/>
          <p:cNvSpPr/>
          <p:nvPr/>
        </p:nvSpPr>
        <p:spPr>
          <a:xfrm>
            <a:off x="4572000" y="2450592"/>
            <a:ext cx="42519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ProductID → ProductName, Price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320040" y="2788920"/>
            <a:ext cx="8503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Orders  (junction table —&gt; records each item on each order)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7" name="Google Shape;217;p11"/>
          <p:cNvGraphicFramePr/>
          <p:nvPr/>
        </p:nvGraphicFramePr>
        <p:xfrm>
          <a:off x="320040" y="30906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{1AD85EA1-DF68-426A-9917-214A2B3E1B38}</a:tableStyleId>
              </a:tblPr>
              <a:tblGrid>
                <a:gridCol w="1097275"/>
                <a:gridCol w="1371600"/>
                <a:gridCol w="1280150"/>
                <a:gridCol w="731525"/>
                <a:gridCol w="1645925"/>
              </a:tblGrid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OrderID *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CustomerID *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ProductID *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Qty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</a:rPr>
                        <a:t>OrderDate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D9488"/>
                    </a:solidFill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O1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C01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P01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2024-03-01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O1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C01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P02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2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2024-03-01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1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O2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C02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P03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Calibri"/>
                        <a:buNone/>
                      </a:pPr>
                      <a:r>
                        <a:rPr lang="en-US" sz="1150" u="none" cap="none" strike="noStrike">
                          <a:solidFill>
                            <a:srgbClr val="000000"/>
                          </a:solidFill>
                        </a:rPr>
                        <a:t>2024-03-04</a:t>
                      </a:r>
                      <a:endParaRPr sz="11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BD5E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8" name="Google Shape;218;p11"/>
          <p:cNvSpPr/>
          <p:nvPr/>
        </p:nvSpPr>
        <p:spPr>
          <a:xfrm>
            <a:off x="320040" y="4133088"/>
            <a:ext cx="8503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(OrderID + CustomerID + ProductID) → Qty, OrderDate  |  FK: CustomerID → Customers  ·  ProductID → Products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320040" y="4462272"/>
            <a:ext cx="8503800" cy="384000"/>
          </a:xfrm>
          <a:prstGeom prst="rect">
            <a:avLst/>
          </a:prstGeom>
          <a:solidFill>
            <a:srgbClr val="0D9488">
              <a:alpha val="18040"/>
            </a:srgbClr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1"/>
          <p:cNvSpPr/>
          <p:nvPr/>
        </p:nvSpPr>
        <p:spPr>
          <a:xfrm>
            <a:off x="457200" y="4462272"/>
            <a:ext cx="83211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repeated customer or product data  ·  Update anomalies eliminated  ·  Each table has a clear single responsibility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2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27" name="Google Shape;227;p12"/>
          <p:cNvSpPr/>
          <p:nvPr/>
        </p:nvSpPr>
        <p:spPr>
          <a:xfrm>
            <a:off x="274320" y="4910328"/>
            <a:ext cx="73152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Database Normalization  |  Database Design &amp; Development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8229600" y="4910328"/>
            <a:ext cx="73152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9 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Benefits of Normalisation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2"/>
          <p:cNvSpPr/>
          <p:nvPr/>
        </p:nvSpPr>
        <p:spPr>
          <a:xfrm>
            <a:off x="320040" y="1005840"/>
            <a:ext cx="2743200" cy="17373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429768" y="1115568"/>
            <a:ext cx="502920" cy="50292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32" name="Google Shape;232;p12"/>
          <p:cNvSpPr/>
          <p:nvPr/>
        </p:nvSpPr>
        <p:spPr>
          <a:xfrm>
            <a:off x="429768" y="11155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1051560" y="1133856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Integrity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429768" y="1600200"/>
            <a:ext cx="252374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F5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Updates in one place propagate correctly — no inconsistent copies.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3246120" y="1005840"/>
            <a:ext cx="2743200" cy="17373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3355848" y="1115568"/>
            <a:ext cx="502920" cy="50292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37" name="Google Shape;237;p12"/>
          <p:cNvSpPr/>
          <p:nvPr/>
        </p:nvSpPr>
        <p:spPr>
          <a:xfrm>
            <a:off x="3355848" y="11155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✗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3977640" y="1133856"/>
            <a:ext cx="1874520" cy="34747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Eliminates Anomalies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3355848" y="1600200"/>
            <a:ext cx="252374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F5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Insert, update, and delete operations work cleanly without side effects.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6172200" y="1005840"/>
            <a:ext cx="2743200" cy="17373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6281928" y="1115568"/>
            <a:ext cx="502920" cy="50292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42" name="Google Shape;242;p12"/>
          <p:cNvSpPr/>
          <p:nvPr/>
        </p:nvSpPr>
        <p:spPr>
          <a:xfrm>
            <a:off x="6281928" y="1115568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⚙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6903720" y="1133856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Storage Efficiency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6281928" y="1600200"/>
            <a:ext cx="252374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F5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Removing duplicated data reduces physical storage requirements.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320040" y="2944368"/>
            <a:ext cx="2743200" cy="17373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429768" y="3054096"/>
            <a:ext cx="502920" cy="50292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47" name="Google Shape;247;p12"/>
          <p:cNvSpPr/>
          <p:nvPr/>
        </p:nvSpPr>
        <p:spPr>
          <a:xfrm>
            <a:off x="429768" y="305409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1051560" y="3072384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Query Flexibility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429768" y="3538728"/>
            <a:ext cx="252374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F5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Well-structured tables support efficient, targeted SQL queries.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/>
          <p:nvPr/>
        </p:nvSpPr>
        <p:spPr>
          <a:xfrm>
            <a:off x="3246120" y="2944368"/>
            <a:ext cx="2743200" cy="17373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3355848" y="3054096"/>
            <a:ext cx="502920" cy="50292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52" name="Google Shape;252;p12"/>
          <p:cNvSpPr/>
          <p:nvPr/>
        </p:nvSpPr>
        <p:spPr>
          <a:xfrm>
            <a:off x="3355848" y="305409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🔒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3977640" y="3072384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Easier Maintenance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3355848" y="3538728"/>
            <a:ext cx="252374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F5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Schema changes affect fewer tables — simpler to extend and maintain.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6172200" y="2944368"/>
            <a:ext cx="2743200" cy="17373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6281928" y="3054096"/>
            <a:ext cx="502920" cy="502920"/>
          </a:xfrm>
          <a:prstGeom prst="ellipse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57" name="Google Shape;257;p12"/>
          <p:cNvSpPr/>
          <p:nvPr/>
        </p:nvSpPr>
        <p:spPr>
          <a:xfrm>
            <a:off x="6281928" y="3054096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📐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2"/>
          <p:cNvSpPr/>
          <p:nvPr/>
        </p:nvSpPr>
        <p:spPr>
          <a:xfrm>
            <a:off x="6903720" y="3072384"/>
            <a:ext cx="18745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Enforces Business Rules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6281928" y="3538728"/>
            <a:ext cx="2523744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1FAF5"/>
              </a:buClr>
              <a:buSzPts val="1100"/>
              <a:buFont typeface="Calibri"/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Dependencies become explicit constraints that the RDBMS can enforce.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7FB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3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66" name="Google Shape;266;p13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i="0" lang="en-US" sz="2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Normalisation in the Real World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68" name="Google Shape;268;p13"/>
          <p:cNvSpPr/>
          <p:nvPr/>
        </p:nvSpPr>
        <p:spPr>
          <a:xfrm>
            <a:off x="274320" y="4910328"/>
            <a:ext cx="73152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Database Normalization  |  Database Design &amp; Development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8229600" y="4910328"/>
            <a:ext cx="73152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10 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320040" y="804672"/>
            <a:ext cx="850392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71" name="Google Shape;271;p13"/>
          <p:cNvSpPr/>
          <p:nvPr/>
        </p:nvSpPr>
        <p:spPr>
          <a:xfrm>
            <a:off x="320040" y="804672"/>
            <a:ext cx="73152" cy="123444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72" name="Google Shape;272;p13"/>
          <p:cNvSpPr/>
          <p:nvPr/>
        </p:nvSpPr>
        <p:spPr>
          <a:xfrm>
            <a:off x="530352" y="89611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9488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E-Commerce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530352" y="126187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Amazon, eBay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2286000" y="941832"/>
            <a:ext cx="18288" cy="960120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75" name="Google Shape;275;p13"/>
          <p:cNvSpPr/>
          <p:nvPr/>
        </p:nvSpPr>
        <p:spPr>
          <a:xfrm>
            <a:off x="2423160" y="914400"/>
            <a:ext cx="6263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Products, Customers, Orders, and Reviews stored in separate normalised tables. Changes to a product's price only need one update.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320040" y="2176272"/>
            <a:ext cx="850392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77" name="Google Shape;277;p13"/>
          <p:cNvSpPr/>
          <p:nvPr/>
        </p:nvSpPr>
        <p:spPr>
          <a:xfrm>
            <a:off x="320040" y="2176272"/>
            <a:ext cx="73152" cy="1234440"/>
          </a:xfrm>
          <a:prstGeom prst="rect">
            <a:avLst/>
          </a:prstGeom>
          <a:solidFill>
            <a:srgbClr val="1D4ED8"/>
          </a:solidFill>
          <a:ln cap="flat" cmpd="sng" w="12700">
            <a:solidFill>
              <a:srgbClr val="1D4E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78" name="Google Shape;278;p13"/>
          <p:cNvSpPr/>
          <p:nvPr/>
        </p:nvSpPr>
        <p:spPr>
          <a:xfrm>
            <a:off x="530352" y="226771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4ED8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Healthcare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3"/>
          <p:cNvSpPr/>
          <p:nvPr/>
        </p:nvSpPr>
        <p:spPr>
          <a:xfrm>
            <a:off x="530352" y="263347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Hospital Patient Systems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3"/>
          <p:cNvSpPr/>
          <p:nvPr/>
        </p:nvSpPr>
        <p:spPr>
          <a:xfrm>
            <a:off x="2286000" y="2313432"/>
            <a:ext cx="18288" cy="960120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81" name="Google Shape;281;p13"/>
          <p:cNvSpPr/>
          <p:nvPr/>
        </p:nvSpPr>
        <p:spPr>
          <a:xfrm>
            <a:off x="2423160" y="2286000"/>
            <a:ext cx="6263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Patient, Diagnosis, Doctor, and Prescription tables. A doctor's department change updates only the Doctors table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</a:t>
            </a: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not thousands of prescription records.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3"/>
          <p:cNvSpPr/>
          <p:nvPr/>
        </p:nvSpPr>
        <p:spPr>
          <a:xfrm>
            <a:off x="320040" y="3547872"/>
            <a:ext cx="850392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83" name="Google Shape;283;p13"/>
          <p:cNvSpPr/>
          <p:nvPr/>
        </p:nvSpPr>
        <p:spPr>
          <a:xfrm>
            <a:off x="320040" y="3547872"/>
            <a:ext cx="73152" cy="1234440"/>
          </a:xfrm>
          <a:prstGeom prst="rect">
            <a:avLst/>
          </a:prstGeom>
          <a:solidFill>
            <a:srgbClr val="7C3AED"/>
          </a:solidFill>
          <a:ln cap="flat" cmpd="sng" w="127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84" name="Google Shape;284;p13"/>
          <p:cNvSpPr/>
          <p:nvPr/>
        </p:nvSpPr>
        <p:spPr>
          <a:xfrm>
            <a:off x="530352" y="3639312"/>
            <a:ext cx="1463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Finance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3"/>
          <p:cNvSpPr/>
          <p:nvPr/>
        </p:nvSpPr>
        <p:spPr>
          <a:xfrm>
            <a:off x="530352" y="4005072"/>
            <a:ext cx="1645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Banking &amp; Payroll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3"/>
          <p:cNvSpPr/>
          <p:nvPr/>
        </p:nvSpPr>
        <p:spPr>
          <a:xfrm>
            <a:off x="2286000" y="3685032"/>
            <a:ext cx="18288" cy="960120"/>
          </a:xfrm>
          <a:prstGeom prst="rect">
            <a:avLst/>
          </a:prstGeom>
          <a:solidFill>
            <a:srgbClr val="CBD5E1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87" name="Google Shape;287;p13"/>
          <p:cNvSpPr/>
          <p:nvPr/>
        </p:nvSpPr>
        <p:spPr>
          <a:xfrm>
            <a:off x="2423160" y="3657600"/>
            <a:ext cx="62636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Account, Transaction, and Customer tables. Strict normalisation ensures audit integrity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transaction links to exactly one customer record.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94" name="Google Shape;294;p14"/>
          <p:cNvSpPr/>
          <p:nvPr/>
        </p:nvSpPr>
        <p:spPr>
          <a:xfrm>
            <a:off x="274320" y="4910328"/>
            <a:ext cx="73152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Database Normalization  |  Database Design &amp; Development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8229600" y="4910328"/>
            <a:ext cx="73152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 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cap="flat" cmpd="sng" w="12700">
            <a:solidFill>
              <a:srgbClr val="0D94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97" name="Google Shape;297;p14"/>
          <p:cNvSpPr/>
          <p:nvPr/>
        </p:nvSpPr>
        <p:spPr>
          <a:xfrm>
            <a:off x="411480" y="182880"/>
            <a:ext cx="832104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Summary &amp; Key Takeaways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411480" y="868680"/>
            <a:ext cx="2651760" cy="12344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99" name="Google Shape;299;p14"/>
          <p:cNvSpPr/>
          <p:nvPr/>
        </p:nvSpPr>
        <p:spPr>
          <a:xfrm>
            <a:off x="411480" y="96012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2200"/>
              <a:buFont typeface="Calibri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1NF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521208" y="1463040"/>
            <a:ext cx="243230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Atomic values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repeating groups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4"/>
          <p:cNvSpPr/>
          <p:nvPr/>
        </p:nvSpPr>
        <p:spPr>
          <a:xfrm>
            <a:off x="3246120" y="868680"/>
            <a:ext cx="2651760" cy="12344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02" name="Google Shape;302;p14"/>
          <p:cNvSpPr/>
          <p:nvPr/>
        </p:nvSpPr>
        <p:spPr>
          <a:xfrm>
            <a:off x="3246120" y="960120"/>
            <a:ext cx="2651760" cy="45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2200"/>
              <a:buFont typeface="Calibri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2NF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3355848" y="1463040"/>
            <a:ext cx="2432304" cy="59436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partial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6080760" y="868680"/>
            <a:ext cx="2651760" cy="123444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5EEAD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05" name="Google Shape;305;p14"/>
          <p:cNvSpPr/>
          <p:nvPr/>
        </p:nvSpPr>
        <p:spPr>
          <a:xfrm>
            <a:off x="6080760" y="960120"/>
            <a:ext cx="2651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EEAD4"/>
              </a:buClr>
              <a:buSzPts val="2200"/>
              <a:buFont typeface="Calibri"/>
              <a:buNone/>
            </a:pPr>
            <a:r>
              <a:rPr b="1" i="0" lang="en-US" sz="2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3NF</a:t>
            </a:r>
            <a:endParaRPr b="0" i="0" sz="2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6190488" y="1463040"/>
            <a:ext cx="2432304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transitive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0" i="0" lang="en-US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dependencies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411480" y="2212848"/>
            <a:ext cx="8321040" cy="15544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Takeaways:</a:t>
            </a:r>
            <a:endParaRPr b="1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Normalisation prevents data anomalies and ensures long-term data integrity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Normal Form builds on the previous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We </a:t>
            </a: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must satisfy lower forms first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Functional dependencies are the analytical tool 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3NF is the practical target for most OLTP databases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5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14" name="Google Shape;314;p15"/>
          <p:cNvSpPr/>
          <p:nvPr/>
        </p:nvSpPr>
        <p:spPr>
          <a:xfrm>
            <a:off x="274320" y="4910328"/>
            <a:ext cx="731520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Database Normalization  |  Database Design &amp; Development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5"/>
          <p:cNvSpPr/>
          <p:nvPr/>
        </p:nvSpPr>
        <p:spPr>
          <a:xfrm>
            <a:off x="8229600" y="4910328"/>
            <a:ext cx="731520" cy="233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00"/>
              <a:buFont typeface="Calibri"/>
              <a:buNone/>
            </a:pP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000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2 </a:t>
            </a:r>
            <a:r>
              <a:rPr b="0" i="0" lang="en-US" sz="1000" u="none" cap="none" strike="noStrike">
                <a:solidFill>
                  <a:srgbClr val="CBD5E1"/>
                </a:solidFill>
                <a:latin typeface="Calibri"/>
                <a:ea typeface="Calibri"/>
                <a:cs typeface="Calibri"/>
                <a:sym typeface="Calibri"/>
              </a:rPr>
              <a:t>/ 12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5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17" name="Google Shape;317;p15"/>
          <p:cNvSpPr/>
          <p:nvPr/>
        </p:nvSpPr>
        <p:spPr>
          <a:xfrm>
            <a:off x="411480" y="164592"/>
            <a:ext cx="8321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400"/>
              <a:buFont typeface="Calibri"/>
              <a:buNone/>
            </a:pPr>
            <a:r>
              <a:rPr b="1" i="0" lang="en-US" sz="2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/>
          <p:nvPr/>
        </p:nvSpPr>
        <p:spPr>
          <a:xfrm>
            <a:off x="411480" y="822960"/>
            <a:ext cx="83210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b="0" i="1" lang="en-US" sz="14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Examine the following table. Identify which Normal Form it violates and explain why: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19" name="Google Shape;319;p15"/>
          <p:cNvGraphicFramePr/>
          <p:nvPr/>
        </p:nvGraphicFramePr>
        <p:xfrm>
          <a:off x="411480" y="12344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{1AD85EA1-DF68-426A-9917-214A2B3E1B38}</a:tableStyleId>
              </a:tblPr>
              <a:tblGrid>
                <a:gridCol w="1234450"/>
                <a:gridCol w="1234450"/>
                <a:gridCol w="2011675"/>
                <a:gridCol w="914400"/>
                <a:gridCol w="1554475"/>
                <a:gridCol w="457200"/>
              </a:tblGrid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InvoiceID *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CustomerID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CustomerEmail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ItemID *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ItemName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</a:rPr>
                        <a:t>Qty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2A4A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INV001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C10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lee@mail.com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P05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Monitor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2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INV001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C10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lee@mail.com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P08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Webcam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INV002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C14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sam@mail.com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P05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Monitor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000000"/>
                          </a:solidFill>
                        </a:rPr>
                        <a:t>3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0D948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20" name="Google Shape;320;p15"/>
          <p:cNvSpPr/>
          <p:nvPr/>
        </p:nvSpPr>
        <p:spPr>
          <a:xfrm>
            <a:off x="411480" y="2468880"/>
            <a:ext cx="832104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300"/>
              <a:buFont typeface="Calibri"/>
              <a:buNone/>
            </a:pPr>
            <a:r>
              <a:rPr b="1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Discuss with </a:t>
            </a:r>
            <a:r>
              <a:rPr b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friend</a:t>
            </a:r>
            <a:r>
              <a:rPr b="1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What is the Primary Key of this table?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Which Normal Form does it violate — and why?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925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•"/>
            </a:pPr>
            <a:r>
              <a:rPr b="0" i="0" lang="en-US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How would you fix it? Sketch the new tables.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5"/>
          <p:cNvSpPr/>
          <p:nvPr/>
        </p:nvSpPr>
        <p:spPr>
          <a:xfrm>
            <a:off x="411480" y="3886200"/>
            <a:ext cx="8321040" cy="868680"/>
          </a:xfrm>
          <a:prstGeom prst="rect">
            <a:avLst/>
          </a:prstGeom>
          <a:solidFill>
            <a:srgbClr val="FFFFFF">
              <a:alpha val="10196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322" name="Google Shape;322;p15"/>
          <p:cNvSpPr/>
          <p:nvPr/>
        </p:nvSpPr>
        <p:spPr>
          <a:xfrm>
            <a:off x="548640" y="3886200"/>
            <a:ext cx="81381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Answer: </a:t>
            </a: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PK = InvoiceID + ItemID (composite). CustomerEmail depends only on CustomerID, which depends only on InvoiceID — this is a 2NF violation (partial dependency). Fix: extract a Customers table (CustomerID, CustomerEmail).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