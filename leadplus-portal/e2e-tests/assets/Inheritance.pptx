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1A3461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046720" y="274320"/>
            <a:ext cx="1371600" cy="1371600"/>
          </a:xfrm>
          <a:prstGeom prst="ellipse">
            <a:avLst/>
          </a:prstGeom>
          <a:solidFill>
            <a:srgbClr val="0D9488">
              <a:alpha val="4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7863840" y="3657600"/>
            <a:ext cx="1645920" cy="1645920"/>
          </a:xfrm>
          <a:prstGeom prst="ellipse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1261915"/>
            <a:ext cx="3200400" cy="384000"/>
          </a:xfrm>
          <a:prstGeom prst="roundRect">
            <a:avLst>
              <a:gd fmla="val 23810" name="adj"/>
            </a:avLst>
          </a:prstGeom>
          <a:solidFill>
            <a:srgbClr val="0D9488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1261915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OBJECT-ORIENTED PROGRAMMING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840233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b="1" lang="en-US" sz="7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Inheritance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77012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Prepared by:  Lahiru Viraj Karunarathna</a:t>
            </a:r>
            <a:endParaRPr i="1" sz="1500">
              <a:solidFill>
                <a:srgbClr val="5EEA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461"/>
          </a:solidFill>
          <a:ln cap="flat" cmpd="sng" w="12700">
            <a:solidFill>
              <a:srgbClr val="1A3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Inheritance?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46" y="1234450"/>
            <a:ext cx="7051200" cy="105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234440"/>
            <a:ext cx="9144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2984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54" y="1572775"/>
            <a:ext cx="6527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 is a mechanism in OOP where a new class (child/subclass) acquires properties and behaviors from an existing class (parent/superclass).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2487168"/>
            <a:ext cx="2651760" cy="10789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257860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Parent Class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290779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Superclass / Base class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shares its features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0" y="2487168"/>
            <a:ext cx="2651760" cy="107899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00400" y="257860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Child Class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00400" y="290779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Subclass / Derived class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inherits features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35040" y="2487168"/>
            <a:ext cx="2651760" cy="10789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035040" y="257860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035040" y="290779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Keyword used to inherit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Java, C++, Python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3767328"/>
            <a:ext cx="8412480" cy="777240"/>
          </a:xfrm>
          <a:prstGeom prst="rect">
            <a:avLst/>
          </a:prstGeom>
          <a:solidFill>
            <a:srgbClr val="1A3461"/>
          </a:solidFill>
          <a:ln cap="flat" cmpd="sng" w="12700">
            <a:solidFill>
              <a:srgbClr val="1A3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3767328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Real-World Example: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331720" y="3767328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Dog inherits traits from Animal (breathes, eats, moves) and adds its own (bark, fetch). No need to redefine shared behavior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Types of Inheritance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20040" y="1207008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20040" y="1207008"/>
            <a:ext cx="2697480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20040" y="1207008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Inheritance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" y="166420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1" lang="en-US" sz="170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A → B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0040" y="1956816"/>
            <a:ext cx="2697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child inherits from one parent.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00400" y="1207008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00400" y="1207008"/>
            <a:ext cx="2697480" cy="41148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00400" y="1207008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Multi-level Inheritance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0" y="166420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onsolas"/>
              <a:buNone/>
            </a:pPr>
            <a:r>
              <a:rPr b="1" lang="en-US" sz="1700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A→B→C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0" y="1956816"/>
            <a:ext cx="2697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Chain: A → B → C (grandparent→parent→child).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080760" y="1207008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080760" y="1207008"/>
            <a:ext cx="2697480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80760" y="1207008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Hierarchical Inheritance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080760" y="166420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1" lang="en-US" sz="17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A→B,C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080760" y="1956816"/>
            <a:ext cx="2697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children inherit from one parent.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0040" y="2990088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20040" y="2990088"/>
            <a:ext cx="2697480" cy="411480"/>
          </a:xfrm>
          <a:prstGeom prst="rect">
            <a:avLst/>
          </a:prstGeom>
          <a:solidFill>
            <a:srgbClr val="1A3461"/>
          </a:solidFill>
          <a:ln cap="flat" cmpd="sng" w="12700">
            <a:solidFill>
              <a:srgbClr val="1A3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0040" y="2990088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Inheritance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" y="344728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461"/>
              </a:buClr>
              <a:buSzPts val="1300"/>
              <a:buFont typeface="Consolas"/>
              <a:buNone/>
            </a:pPr>
            <a:r>
              <a:rPr b="1" lang="en-US" sz="1700">
                <a:solidFill>
                  <a:srgbClr val="1A3461"/>
                </a:solidFill>
                <a:latin typeface="Consolas"/>
                <a:ea typeface="Consolas"/>
                <a:cs typeface="Consolas"/>
                <a:sym typeface="Consolas"/>
              </a:rPr>
              <a:t>A,B→C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" y="3739896"/>
            <a:ext cx="2697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child has multiple parents (C++, Python).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00400" y="2990088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00400" y="2990088"/>
            <a:ext cx="2697480" cy="41148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200400" y="2990088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Inheritance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0" y="344728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onsolas"/>
              <a:buNone/>
            </a:pPr>
            <a:r>
              <a:rPr b="1" lang="en-US" sz="1700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Mixed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0" y="3739896"/>
            <a:ext cx="2697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Combination of two or more types.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Inheritance in Code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0040" y="1170432"/>
            <a:ext cx="502920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20040" y="1170432"/>
            <a:ext cx="1371600" cy="2926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20040" y="11704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Example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508760"/>
            <a:ext cx="466344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1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Animal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String </a:t>
            </a: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15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5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  void </a:t>
            </a:r>
            <a:r>
              <a:rPr lang="en-US" sz="11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eat</a:t>
            </a: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</a:t>
            </a:r>
            <a:r>
              <a:rPr lang="en-US" sz="115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"Eating..."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-US" sz="11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Dog </a:t>
            </a:r>
            <a:r>
              <a:rPr lang="en-US" sz="115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extends </a:t>
            </a:r>
            <a:r>
              <a:rPr lang="en-US" sz="11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Animal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5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void </a:t>
            </a:r>
            <a:r>
              <a:rPr lang="en-US" sz="11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bark</a:t>
            </a: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</a:t>
            </a:r>
            <a:r>
              <a:rPr lang="en-US" sz="1150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"Woof!"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Dog </a:t>
            </a:r>
            <a:r>
              <a:rPr lang="en-US" sz="1150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 = new </a:t>
            </a:r>
            <a:r>
              <a:rPr lang="en-US" sz="11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d.</a:t>
            </a:r>
            <a:r>
              <a:rPr lang="en-US" sz="11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eat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  </a:t>
            </a:r>
            <a:r>
              <a:rPr lang="en-US" sz="11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// inherited</a:t>
            </a:r>
            <a:br>
              <a:rPr lang="en-US" sz="11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d.</a:t>
            </a:r>
            <a:r>
              <a:rPr lang="en-US" sz="11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bark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();  </a:t>
            </a:r>
            <a:r>
              <a:rPr lang="en-US" sz="11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// own method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532120" y="1207008"/>
            <a:ext cx="3291840" cy="10058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532120" y="1207008"/>
            <a:ext cx="73152" cy="10058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687568" y="128016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lang="en-US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Class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687568" y="155448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Animal defines shared properties and methods available to all animals.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532120" y="2487168"/>
            <a:ext cx="3291840" cy="10058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532120" y="2487168"/>
            <a:ext cx="73152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687568" y="25603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b="1" lang="en-US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extends Keyword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687568" y="283464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 uses 'extends' to inherit everything from Animal automatically.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532120" y="3703320"/>
            <a:ext cx="3291840" cy="10058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532120" y="3703320"/>
            <a:ext cx="73152" cy="10058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687568" y="377647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50"/>
              <a:buFont typeface="Calibri"/>
              <a:buNone/>
            </a:pPr>
            <a:r>
              <a:rPr b="1" lang="en-US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Inherited Methods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687568" y="40507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Dog object can call eat() (from Animal) and its own bark().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Concepts &amp; Features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20040" y="1207008"/>
            <a:ext cx="420624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84632" y="1435608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84632" y="1435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97280" y="13898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50"/>
              <a:buFont typeface="Calibri"/>
              <a:buNone/>
            </a:pPr>
            <a:r>
              <a:rPr b="1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Overriding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84632" y="192024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subclass redefines a method from the parent class to provide specialized behavior, using the same method signature.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754880" y="1207008"/>
            <a:ext cx="420624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919472" y="1435608"/>
            <a:ext cx="502920" cy="50292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919472" y="1435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532120" y="13898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50"/>
              <a:buFont typeface="Calibri"/>
              <a:buNone/>
            </a:pPr>
            <a:r>
              <a:rPr b="1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 Keyword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919472" y="192024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call the parent class constructor or methods from within the child class, enabling reuse of parent logic.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0040" y="3127248"/>
            <a:ext cx="420624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84632" y="3355848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84632" y="33558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♻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97280" y="331012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0"/>
              <a:buFont typeface="Calibri"/>
              <a:buNone/>
            </a:pPr>
            <a:r>
              <a:rPr b="1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Reusability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84632" y="384048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common logic once in the parent class. All child classes inherit it automatically reducing duplication.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754880" y="3127248"/>
            <a:ext cx="420624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919472" y="3355848"/>
            <a:ext cx="502920" cy="502920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919472" y="33558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532120" y="331012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50"/>
              <a:buFont typeface="Calibri"/>
              <a:buNone/>
            </a:pPr>
            <a:r>
              <a:rPr b="1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IS-A Relationship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919472" y="384048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 models an IS-A relationship: a Dog IS-A Animal. This enables polymorphism in OOP design.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6366F1">
              <a:alpha val="21960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11480" y="1737360"/>
            <a:ext cx="269748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34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48640" y="18288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8640" y="21945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Reuse Code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248716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once in the parent; child classes inherit automatically.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310128" y="1737360"/>
            <a:ext cx="269748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34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447288" y="18288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447288" y="21945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Hierarchies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447288" y="248716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IS-A real-world relationships clearly in code.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208776" y="1737360"/>
            <a:ext cx="269748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34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345936" y="18288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345936" y="21945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 &amp; Override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345936" y="248716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new features and customize inherited behavior easily.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11480" y="3127248"/>
            <a:ext cx="269748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34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48640" y="321868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" y="358444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Redundancy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38770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Fewer lines of code, fewer bugs, easier maintenance.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310128" y="3127248"/>
            <a:ext cx="269748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34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447288" y="321868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447288" y="358444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Polymorphism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447288" y="38770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 is the backbone of runtime polymorphism.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208776" y="3127248"/>
            <a:ext cx="269748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3344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345936" y="321868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345936" y="358444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Wisely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345936" y="38770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 'composition over inheritance' when appropriate.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